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303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81782" y="-3556"/>
            <a:ext cx="260883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86938" y="1893189"/>
            <a:ext cx="4128261" cy="33651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772400" cy="10058400"/>
            <a:chOff x="0" y="0"/>
            <a:chExt cx="7772400" cy="10058400"/>
          </a:xfrm>
        </p:grpSpPr>
        <p:sp>
          <p:nvSpPr>
            <p:cNvPr id="3" name="object 3"/>
            <p:cNvSpPr/>
            <p:nvPr/>
          </p:nvSpPr>
          <p:spPr>
            <a:xfrm>
              <a:off x="0" y="1640585"/>
              <a:ext cx="7772400" cy="8418195"/>
            </a:xfrm>
            <a:custGeom>
              <a:avLst/>
              <a:gdLst/>
              <a:ahLst/>
              <a:cxnLst/>
              <a:rect l="l" t="t" r="r" b="b"/>
              <a:pathLst>
                <a:path w="7772400" h="8418195">
                  <a:moveTo>
                    <a:pt x="0" y="8417814"/>
                  </a:moveTo>
                  <a:lnTo>
                    <a:pt x="7772400" y="8417814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8417814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7772400" cy="1640839"/>
            </a:xfrm>
            <a:custGeom>
              <a:avLst/>
              <a:gdLst/>
              <a:ahLst/>
              <a:cxnLst/>
              <a:rect l="l" t="t" r="r" b="b"/>
              <a:pathLst>
                <a:path w="7772400" h="1640839">
                  <a:moveTo>
                    <a:pt x="0" y="1640585"/>
                  </a:moveTo>
                  <a:lnTo>
                    <a:pt x="7772400" y="1640585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1640585"/>
                  </a:lnTo>
                  <a:close/>
                </a:path>
              </a:pathLst>
            </a:custGeom>
            <a:solidFill>
              <a:srgbClr val="CEDD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E-</a:t>
            </a:r>
            <a:r>
              <a:rPr dirty="0"/>
              <a:t>Resource</a:t>
            </a:r>
            <a:r>
              <a:rPr spc="-100" dirty="0"/>
              <a:t> </a:t>
            </a:r>
            <a:r>
              <a:rPr spc="-25" dirty="0"/>
              <a:t>ID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97938" y="737361"/>
            <a:ext cx="3192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Calibri"/>
                <a:cs typeface="Calibri"/>
              </a:rPr>
              <a:t>Streaming</a:t>
            </a:r>
            <a:r>
              <a:rPr sz="3600" b="1" spc="-180" dirty="0">
                <a:latin typeface="Calibri"/>
                <a:cs typeface="Calibri"/>
              </a:rPr>
              <a:t> </a:t>
            </a:r>
            <a:r>
              <a:rPr sz="3600" b="1" spc="-20" dirty="0">
                <a:latin typeface="Calibri"/>
                <a:cs typeface="Calibri"/>
              </a:rPr>
              <a:t>Audio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00400" y="1893189"/>
            <a:ext cx="4114800" cy="3338195"/>
          </a:xfrm>
          <a:prstGeom prst="rect">
            <a:avLst/>
          </a:prstGeom>
          <a:solidFill>
            <a:srgbClr val="E4F0E8"/>
          </a:solidFill>
        </p:spPr>
        <p:txBody>
          <a:bodyPr vert="horz" wrap="square" lIns="0" tIns="812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40"/>
              </a:spcBef>
            </a:pPr>
            <a:r>
              <a:rPr sz="2500" b="1" spc="-10" dirty="0">
                <a:latin typeface="Calibri"/>
                <a:cs typeface="Calibri"/>
              </a:rPr>
              <a:t>Motto:</a:t>
            </a:r>
            <a:r>
              <a:rPr sz="2500" b="1" spc="-9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'Listen</a:t>
            </a:r>
            <a:r>
              <a:rPr sz="2500" b="1" spc="-8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and</a:t>
            </a:r>
            <a:r>
              <a:rPr sz="2500" b="1" spc="-7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learn'</a:t>
            </a:r>
            <a:endParaRPr sz="2500" dirty="0">
              <a:latin typeface="Calibri"/>
              <a:cs typeface="Calibri"/>
            </a:endParaRPr>
          </a:p>
          <a:p>
            <a:pPr marL="92075" marR="193040">
              <a:lnSpc>
                <a:spcPct val="121000"/>
              </a:lnSpc>
              <a:spcBef>
                <a:spcPts val="605"/>
              </a:spcBef>
            </a:pPr>
            <a:r>
              <a:rPr sz="2500" spc="-45" dirty="0">
                <a:latin typeface="Calibri"/>
                <a:cs typeface="Calibri"/>
              </a:rPr>
              <a:t>You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are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creative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natural </a:t>
            </a:r>
            <a:r>
              <a:rPr sz="2500" spc="-35" dirty="0">
                <a:latin typeface="Calibri"/>
                <a:cs typeface="Calibri"/>
              </a:rPr>
              <a:t>performer.</a:t>
            </a:r>
            <a:r>
              <a:rPr sz="2500" spc="-95" dirty="0">
                <a:latin typeface="Calibri"/>
                <a:cs typeface="Calibri"/>
              </a:rPr>
              <a:t> </a:t>
            </a:r>
            <a:r>
              <a:rPr sz="2500" spc="-45" dirty="0">
                <a:latin typeface="Calibri"/>
                <a:cs typeface="Calibri"/>
              </a:rPr>
              <a:t>You</a:t>
            </a:r>
            <a:r>
              <a:rPr sz="2500" spc="-9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keep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people entertained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informed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on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go.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30" dirty="0">
                <a:latin typeface="Calibri"/>
                <a:cs typeface="Calibri"/>
              </a:rPr>
              <a:t>Your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voice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matters,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you</a:t>
            </a:r>
            <a:r>
              <a:rPr sz="2500" spc="-2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use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it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well.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200" y="5490336"/>
            <a:ext cx="6858000" cy="1554480"/>
          </a:xfrm>
          <a:prstGeom prst="rect">
            <a:avLst/>
          </a:prstGeom>
          <a:solidFill>
            <a:srgbClr val="E4F0E8"/>
          </a:solidFill>
        </p:spPr>
        <p:txBody>
          <a:bodyPr vert="horz" wrap="square" lIns="0" tIns="819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645"/>
              </a:spcBef>
            </a:pPr>
            <a:r>
              <a:rPr sz="2400" b="1" dirty="0">
                <a:latin typeface="Calibri"/>
                <a:cs typeface="Calibri"/>
              </a:rPr>
              <a:t>Where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find:</a:t>
            </a:r>
            <a:endParaRPr sz="2400" dirty="0">
              <a:latin typeface="Calibri"/>
              <a:cs typeface="Calibri"/>
            </a:endParaRPr>
          </a:p>
          <a:p>
            <a:pPr marL="91440" marR="252095">
              <a:lnSpc>
                <a:spcPct val="120800"/>
              </a:lnSpc>
              <a:spcBef>
                <a:spcPts val="615"/>
              </a:spcBef>
            </a:pPr>
            <a:r>
              <a:rPr sz="2400" dirty="0">
                <a:latin typeface="Calibri"/>
                <a:cs typeface="Calibri"/>
              </a:rPr>
              <a:t>Quicksearch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Select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“Online”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“Audio”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for-</a:t>
            </a:r>
            <a:r>
              <a:rPr sz="2400" dirty="0">
                <a:latin typeface="Calibri"/>
                <a:cs typeface="Calibri"/>
              </a:rPr>
              <a:t>mat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facet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Catalog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649" y="7315200"/>
            <a:ext cx="6844665" cy="2286000"/>
          </a:xfrm>
          <a:prstGeom prst="rect">
            <a:avLst/>
          </a:prstGeom>
          <a:solidFill>
            <a:srgbClr val="E4F0E8"/>
          </a:solidFill>
        </p:spPr>
        <p:txBody>
          <a:bodyPr vert="horz" wrap="square" lIns="0" tIns="8318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655"/>
              </a:spcBef>
            </a:pPr>
            <a:r>
              <a:rPr sz="2400" b="1" dirty="0">
                <a:latin typeface="Calibri"/>
                <a:cs typeface="Calibri"/>
              </a:rPr>
              <a:t>Try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these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streaming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audio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databases:</a:t>
            </a:r>
            <a:endParaRPr sz="2400" dirty="0">
              <a:latin typeface="Calibri"/>
              <a:cs typeface="Calibri"/>
            </a:endParaRPr>
          </a:p>
          <a:p>
            <a:pPr marL="318770" indent="-228600">
              <a:lnSpc>
                <a:spcPct val="100000"/>
              </a:lnSpc>
              <a:spcBef>
                <a:spcPts val="1215"/>
              </a:spcBef>
              <a:buSzPct val="41666"/>
              <a:buFont typeface="Symbol"/>
              <a:buChar char=""/>
              <a:tabLst>
                <a:tab pos="318770" algn="l"/>
              </a:tabLst>
            </a:pPr>
            <a:r>
              <a:rPr sz="2400" spc="-20" dirty="0">
                <a:latin typeface="Calibri"/>
                <a:cs typeface="Calibri"/>
              </a:rPr>
              <a:t>DRAM</a:t>
            </a:r>
            <a:endParaRPr sz="2400" dirty="0">
              <a:latin typeface="Calibri"/>
              <a:cs typeface="Calibri"/>
            </a:endParaRPr>
          </a:p>
          <a:p>
            <a:pPr marL="318770" indent="-228600">
              <a:lnSpc>
                <a:spcPct val="100000"/>
              </a:lnSpc>
              <a:spcBef>
                <a:spcPts val="1200"/>
              </a:spcBef>
              <a:buSzPct val="41666"/>
              <a:buFont typeface="Symbol"/>
              <a:buChar char=""/>
              <a:tabLst>
                <a:tab pos="318770" algn="l"/>
              </a:tabLst>
            </a:pPr>
            <a:r>
              <a:rPr sz="2400" dirty="0">
                <a:latin typeface="Calibri"/>
                <a:cs typeface="Calibri"/>
              </a:rPr>
              <a:t>Music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Online.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Contemporary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World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Music</a:t>
            </a:r>
            <a:endParaRPr sz="2400" dirty="0">
              <a:latin typeface="Calibri"/>
              <a:cs typeface="Calibri"/>
            </a:endParaRPr>
          </a:p>
          <a:p>
            <a:pPr marL="318770" indent="-228600">
              <a:lnSpc>
                <a:spcPct val="100000"/>
              </a:lnSpc>
              <a:spcBef>
                <a:spcPts val="1210"/>
              </a:spcBef>
              <a:buSzPct val="41666"/>
              <a:buFont typeface="Symbol"/>
              <a:buChar char=""/>
              <a:tabLst>
                <a:tab pos="318770" algn="l"/>
              </a:tabLst>
            </a:pPr>
            <a:r>
              <a:rPr sz="2400" dirty="0">
                <a:latin typeface="Calibri"/>
                <a:cs typeface="Calibri"/>
              </a:rPr>
              <a:t>Naxos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Music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Library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649" y="1893189"/>
            <a:ext cx="2489073" cy="33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772400" cy="10058400"/>
            <a:chOff x="0" y="0"/>
            <a:chExt cx="7772400" cy="10058400"/>
          </a:xfrm>
        </p:grpSpPr>
        <p:sp>
          <p:nvSpPr>
            <p:cNvPr id="3" name="object 3"/>
            <p:cNvSpPr/>
            <p:nvPr/>
          </p:nvSpPr>
          <p:spPr>
            <a:xfrm>
              <a:off x="0" y="1640585"/>
              <a:ext cx="7772400" cy="8418195"/>
            </a:xfrm>
            <a:custGeom>
              <a:avLst/>
              <a:gdLst/>
              <a:ahLst/>
              <a:cxnLst/>
              <a:rect l="l" t="t" r="r" b="b"/>
              <a:pathLst>
                <a:path w="7772400" h="8418195">
                  <a:moveTo>
                    <a:pt x="0" y="8417814"/>
                  </a:moveTo>
                  <a:lnTo>
                    <a:pt x="7772400" y="8417814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8417814"/>
                  </a:lnTo>
                  <a:close/>
                </a:path>
              </a:pathLst>
            </a:custGeom>
            <a:solidFill>
              <a:srgbClr val="B35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7772400" cy="1640839"/>
            </a:xfrm>
            <a:custGeom>
              <a:avLst/>
              <a:gdLst/>
              <a:ahLst/>
              <a:cxnLst/>
              <a:rect l="l" t="t" r="r" b="b"/>
              <a:pathLst>
                <a:path w="7772400" h="1640839">
                  <a:moveTo>
                    <a:pt x="0" y="1640585"/>
                  </a:moveTo>
                  <a:lnTo>
                    <a:pt x="7772400" y="1640585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1640585"/>
                  </a:lnTo>
                  <a:close/>
                </a:path>
              </a:pathLst>
            </a:custGeom>
            <a:solidFill>
              <a:srgbClr val="FFDA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E-</a:t>
            </a:r>
            <a:r>
              <a:rPr dirty="0"/>
              <a:t>Resource</a:t>
            </a:r>
            <a:r>
              <a:rPr spc="-100" dirty="0"/>
              <a:t> </a:t>
            </a:r>
            <a:r>
              <a:rPr spc="-25" dirty="0"/>
              <a:t>ID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993263" y="737361"/>
            <a:ext cx="1797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Calibri"/>
                <a:cs typeface="Calibri"/>
              </a:rPr>
              <a:t>Database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00400" y="1893189"/>
            <a:ext cx="4114800" cy="3338195"/>
          </a:xfrm>
          <a:prstGeom prst="rect">
            <a:avLst/>
          </a:prstGeom>
          <a:solidFill>
            <a:srgbClr val="E4F0E8"/>
          </a:solidFill>
        </p:spPr>
        <p:txBody>
          <a:bodyPr vert="horz" wrap="square" lIns="0" tIns="635" rIns="0" bIns="0" rtlCol="0">
            <a:spAutoFit/>
          </a:bodyPr>
          <a:lstStyle/>
          <a:p>
            <a:pPr marL="92075" marR="1108075">
              <a:lnSpc>
                <a:spcPct val="121200"/>
              </a:lnSpc>
              <a:spcBef>
                <a:spcPts val="5"/>
              </a:spcBef>
            </a:pPr>
            <a:r>
              <a:rPr sz="2500" b="1" spc="-10" dirty="0">
                <a:latin typeface="Calibri"/>
                <a:cs typeface="Calibri"/>
              </a:rPr>
              <a:t>Motto:</a:t>
            </a:r>
            <a:r>
              <a:rPr sz="2500" b="1" spc="-9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'The</a:t>
            </a:r>
            <a:r>
              <a:rPr sz="2500" b="1" spc="-8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more,</a:t>
            </a:r>
            <a:r>
              <a:rPr sz="2500" b="1" spc="-85" dirty="0">
                <a:latin typeface="Calibri"/>
                <a:cs typeface="Calibri"/>
              </a:rPr>
              <a:t> </a:t>
            </a:r>
            <a:r>
              <a:rPr sz="2500" b="1" spc="-25" dirty="0">
                <a:latin typeface="Calibri"/>
                <a:cs typeface="Calibri"/>
              </a:rPr>
              <a:t>the </a:t>
            </a:r>
            <a:r>
              <a:rPr sz="2500" b="1" spc="-10" dirty="0">
                <a:latin typeface="Calibri"/>
                <a:cs typeface="Calibri"/>
              </a:rPr>
              <a:t>merrier'</a:t>
            </a:r>
            <a:endParaRPr sz="25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1230"/>
              </a:spcBef>
            </a:pPr>
            <a:r>
              <a:rPr sz="2500" spc="-45" dirty="0">
                <a:latin typeface="Calibri"/>
                <a:cs typeface="Calibri"/>
              </a:rPr>
              <a:t>You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are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detail-</a:t>
            </a:r>
            <a:r>
              <a:rPr sz="2500" spc="-10" dirty="0">
                <a:latin typeface="Calibri"/>
                <a:cs typeface="Calibri"/>
              </a:rPr>
              <a:t>oriented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and</a:t>
            </a:r>
            <a:endParaRPr sz="2500">
              <a:latin typeface="Calibri"/>
              <a:cs typeface="Calibri"/>
            </a:endParaRPr>
          </a:p>
          <a:p>
            <a:pPr marL="92075" marR="117475">
              <a:lnSpc>
                <a:spcPct val="121000"/>
              </a:lnSpc>
              <a:spcBef>
                <a:spcPts val="5"/>
              </a:spcBef>
            </a:pPr>
            <a:r>
              <a:rPr sz="2500" dirty="0">
                <a:latin typeface="Calibri"/>
                <a:cs typeface="Calibri"/>
              </a:rPr>
              <a:t>love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make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connections.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You </a:t>
            </a:r>
            <a:r>
              <a:rPr sz="2500" dirty="0">
                <a:latin typeface="Calibri"/>
                <a:cs typeface="Calibri"/>
              </a:rPr>
              <a:t>are</a:t>
            </a:r>
            <a:r>
              <a:rPr sz="2500" spc="-9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always</a:t>
            </a:r>
            <a:r>
              <a:rPr sz="2500" spc="-9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growing</a:t>
            </a:r>
            <a:r>
              <a:rPr sz="2500" spc="-9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and </a:t>
            </a:r>
            <a:r>
              <a:rPr sz="2500" dirty="0">
                <a:latin typeface="Calibri"/>
                <a:cs typeface="Calibri"/>
              </a:rPr>
              <a:t>changing.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40" dirty="0">
                <a:latin typeface="Calibri"/>
                <a:cs typeface="Calibri"/>
              </a:rPr>
              <a:t>You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have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it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all!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200" y="5490336"/>
            <a:ext cx="6858000" cy="1554480"/>
          </a:xfrm>
          <a:prstGeom prst="rect">
            <a:avLst/>
          </a:prstGeom>
          <a:solidFill>
            <a:srgbClr val="E4F0E8"/>
          </a:solidFill>
        </p:spPr>
        <p:txBody>
          <a:bodyPr vert="horz" wrap="square" lIns="0" tIns="819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645"/>
              </a:spcBef>
            </a:pPr>
            <a:r>
              <a:rPr sz="2400" b="1" dirty="0">
                <a:latin typeface="Calibri"/>
                <a:cs typeface="Calibri"/>
              </a:rPr>
              <a:t>Where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find:</a:t>
            </a:r>
            <a:endParaRPr sz="24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1215"/>
              </a:spcBef>
            </a:pPr>
            <a:r>
              <a:rPr sz="2400" dirty="0">
                <a:latin typeface="Calibri"/>
                <a:cs typeface="Calibri"/>
              </a:rPr>
              <a:t>Quicksearch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AZ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List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649" y="7315200"/>
            <a:ext cx="6844665" cy="2286000"/>
          </a:xfrm>
          <a:prstGeom prst="rect">
            <a:avLst/>
          </a:prstGeom>
          <a:solidFill>
            <a:srgbClr val="E4F0E8"/>
          </a:solidFill>
        </p:spPr>
        <p:txBody>
          <a:bodyPr vert="horz" wrap="square" lIns="0" tIns="8318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655"/>
              </a:spcBef>
            </a:pPr>
            <a:r>
              <a:rPr sz="2400" b="1" dirty="0">
                <a:latin typeface="Calibri"/>
                <a:cs typeface="Calibri"/>
              </a:rPr>
              <a:t>Try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these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databases:</a:t>
            </a:r>
            <a:endParaRPr sz="2400">
              <a:latin typeface="Calibri"/>
              <a:cs typeface="Calibri"/>
            </a:endParaRPr>
          </a:p>
          <a:p>
            <a:pPr marL="318770" indent="-228600">
              <a:lnSpc>
                <a:spcPct val="100000"/>
              </a:lnSpc>
              <a:spcBef>
                <a:spcPts val="1215"/>
              </a:spcBef>
              <a:buSzPct val="41666"/>
              <a:buFont typeface="Symbol"/>
              <a:buChar char=""/>
              <a:tabLst>
                <a:tab pos="318770" algn="l"/>
              </a:tabLst>
            </a:pPr>
            <a:r>
              <a:rPr sz="2400" dirty="0">
                <a:latin typeface="Calibri"/>
                <a:cs typeface="Calibri"/>
              </a:rPr>
              <a:t>Business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Source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Complete</a:t>
            </a:r>
            <a:endParaRPr sz="2400">
              <a:latin typeface="Calibri"/>
              <a:cs typeface="Calibri"/>
            </a:endParaRPr>
          </a:p>
          <a:p>
            <a:pPr marL="318770" indent="-228600">
              <a:lnSpc>
                <a:spcPct val="100000"/>
              </a:lnSpc>
              <a:spcBef>
                <a:spcPts val="1200"/>
              </a:spcBef>
              <a:buSzPct val="41666"/>
              <a:buFont typeface="Symbol"/>
              <a:buChar char=""/>
              <a:tabLst>
                <a:tab pos="318770" algn="l"/>
              </a:tabLst>
            </a:pPr>
            <a:r>
              <a:rPr sz="2400" spc="-10" dirty="0">
                <a:latin typeface="Calibri"/>
                <a:cs typeface="Calibri"/>
              </a:rPr>
              <a:t>JSTOR</a:t>
            </a:r>
            <a:endParaRPr sz="2400">
              <a:latin typeface="Calibri"/>
              <a:cs typeface="Calibri"/>
            </a:endParaRPr>
          </a:p>
          <a:p>
            <a:pPr marL="318770" indent="-228600">
              <a:lnSpc>
                <a:spcPct val="100000"/>
              </a:lnSpc>
              <a:spcBef>
                <a:spcPts val="1210"/>
              </a:spcBef>
              <a:buSzPct val="41666"/>
              <a:buFont typeface="Symbol"/>
              <a:buChar char=""/>
              <a:tabLst>
                <a:tab pos="318770" algn="l"/>
              </a:tabLst>
            </a:pPr>
            <a:r>
              <a:rPr sz="2400" spc="-10" dirty="0">
                <a:latin typeface="Calibri"/>
                <a:cs typeface="Calibri"/>
              </a:rPr>
              <a:t>PubMed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893189"/>
            <a:ext cx="2439797" cy="33376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772400" cy="10058400"/>
            <a:chOff x="0" y="0"/>
            <a:chExt cx="7772400" cy="10058400"/>
          </a:xfrm>
        </p:grpSpPr>
        <p:sp>
          <p:nvSpPr>
            <p:cNvPr id="3" name="object 3"/>
            <p:cNvSpPr/>
            <p:nvPr/>
          </p:nvSpPr>
          <p:spPr>
            <a:xfrm>
              <a:off x="0" y="1640585"/>
              <a:ext cx="7772400" cy="8418195"/>
            </a:xfrm>
            <a:custGeom>
              <a:avLst/>
              <a:gdLst/>
              <a:ahLst/>
              <a:cxnLst/>
              <a:rect l="l" t="t" r="r" b="b"/>
              <a:pathLst>
                <a:path w="7772400" h="8418195">
                  <a:moveTo>
                    <a:pt x="0" y="8417814"/>
                  </a:moveTo>
                  <a:lnTo>
                    <a:pt x="7772400" y="8417814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8417814"/>
                  </a:lnTo>
                  <a:close/>
                </a:path>
              </a:pathLst>
            </a:custGeom>
            <a:solidFill>
              <a:srgbClr val="AAB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7772400" cy="1640839"/>
            </a:xfrm>
            <a:custGeom>
              <a:avLst/>
              <a:gdLst/>
              <a:ahLst/>
              <a:cxnLst/>
              <a:rect l="l" t="t" r="r" b="b"/>
              <a:pathLst>
                <a:path w="7772400" h="1640839">
                  <a:moveTo>
                    <a:pt x="0" y="1640585"/>
                  </a:moveTo>
                  <a:lnTo>
                    <a:pt x="7772400" y="1640585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1640585"/>
                  </a:lnTo>
                  <a:close/>
                </a:path>
              </a:pathLst>
            </a:custGeom>
            <a:solidFill>
              <a:srgbClr val="BDD6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E-</a:t>
            </a:r>
            <a:r>
              <a:rPr dirty="0"/>
              <a:t>Resource</a:t>
            </a:r>
            <a:r>
              <a:rPr spc="-100" dirty="0"/>
              <a:t> </a:t>
            </a:r>
            <a:r>
              <a:rPr spc="-25" dirty="0"/>
              <a:t>ID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220339" y="737361"/>
            <a:ext cx="1344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Calibri"/>
                <a:cs typeface="Calibri"/>
              </a:rPr>
              <a:t>E-</a:t>
            </a:r>
            <a:r>
              <a:rPr sz="3600" b="1" spc="-20" dirty="0">
                <a:latin typeface="Calibri"/>
                <a:cs typeface="Calibri"/>
              </a:rPr>
              <a:t>book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86938" y="1920113"/>
            <a:ext cx="4114800" cy="3338195"/>
          </a:xfrm>
          <a:prstGeom prst="rect">
            <a:avLst/>
          </a:prstGeom>
          <a:solidFill>
            <a:srgbClr val="FBE4D5"/>
          </a:solidFill>
        </p:spPr>
        <p:txBody>
          <a:bodyPr vert="horz" wrap="square" lIns="0" tIns="3175" rIns="0" bIns="0" rtlCol="0">
            <a:spAutoFit/>
          </a:bodyPr>
          <a:lstStyle/>
          <a:p>
            <a:pPr marL="91440" marR="628015">
              <a:lnSpc>
                <a:spcPct val="121200"/>
              </a:lnSpc>
              <a:spcBef>
                <a:spcPts val="25"/>
              </a:spcBef>
            </a:pPr>
            <a:r>
              <a:rPr sz="2400" b="1" dirty="0">
                <a:latin typeface="Calibri"/>
                <a:cs typeface="Calibri"/>
              </a:rPr>
              <a:t>Motto: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'Knowledge</a:t>
            </a:r>
            <a:r>
              <a:rPr sz="2400" b="1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at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your </a:t>
            </a:r>
            <a:r>
              <a:rPr sz="2400" b="1" spc="-10" dirty="0">
                <a:latin typeface="Calibri"/>
                <a:cs typeface="Calibri"/>
              </a:rPr>
              <a:t>fingertips'</a:t>
            </a:r>
            <a:endParaRPr sz="2400">
              <a:latin typeface="Calibri"/>
              <a:cs typeface="Calibri"/>
            </a:endParaRPr>
          </a:p>
          <a:p>
            <a:pPr marL="91440" marR="748030">
              <a:lnSpc>
                <a:spcPct val="121000"/>
              </a:lnSpc>
              <a:spcBef>
                <a:spcPts val="600"/>
              </a:spcBef>
            </a:pPr>
            <a:r>
              <a:rPr sz="2400" spc="-50" dirty="0">
                <a:latin typeface="Calibri"/>
                <a:cs typeface="Calibri"/>
              </a:rPr>
              <a:t>You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good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travel </a:t>
            </a:r>
            <a:r>
              <a:rPr sz="2400" dirty="0">
                <a:latin typeface="Calibri"/>
                <a:cs typeface="Calibri"/>
              </a:rPr>
              <a:t>companion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always available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accessible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to</a:t>
            </a:r>
            <a:endParaRPr sz="2400">
              <a:latin typeface="Calibri"/>
              <a:cs typeface="Calibri"/>
            </a:endParaRPr>
          </a:p>
          <a:p>
            <a:pPr marL="91440" marR="104775">
              <a:lnSpc>
                <a:spcPct val="120800"/>
              </a:lnSpc>
              <a:spcBef>
                <a:spcPts val="15"/>
              </a:spcBef>
            </a:pPr>
            <a:r>
              <a:rPr sz="2400" spc="-10" dirty="0">
                <a:latin typeface="Calibri"/>
                <a:cs typeface="Calibri"/>
              </a:rPr>
              <a:t>anyone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you.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You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are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loyal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friend.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200" y="5490336"/>
            <a:ext cx="6858000" cy="1554480"/>
          </a:xfrm>
          <a:prstGeom prst="rect">
            <a:avLst/>
          </a:prstGeom>
          <a:solidFill>
            <a:srgbClr val="FBE4D5"/>
          </a:solidFill>
        </p:spPr>
        <p:txBody>
          <a:bodyPr vert="horz" wrap="square" lIns="0" tIns="819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645"/>
              </a:spcBef>
            </a:pPr>
            <a:r>
              <a:rPr sz="2400" b="1" dirty="0">
                <a:latin typeface="Calibri"/>
                <a:cs typeface="Calibri"/>
              </a:rPr>
              <a:t>Where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find:</a:t>
            </a:r>
            <a:endParaRPr sz="2400">
              <a:latin typeface="Calibri"/>
              <a:cs typeface="Calibri"/>
            </a:endParaRPr>
          </a:p>
          <a:p>
            <a:pPr marL="91440" marR="237490">
              <a:lnSpc>
                <a:spcPct val="120800"/>
              </a:lnSpc>
              <a:spcBef>
                <a:spcPts val="615"/>
              </a:spcBef>
            </a:pPr>
            <a:r>
              <a:rPr sz="2400" dirty="0">
                <a:latin typeface="Calibri"/>
                <a:cs typeface="Calibri"/>
              </a:rPr>
              <a:t>Quicksearch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Select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“Online”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“Books”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for-</a:t>
            </a:r>
            <a:r>
              <a:rPr sz="2400" dirty="0">
                <a:latin typeface="Calibri"/>
                <a:cs typeface="Calibri"/>
              </a:rPr>
              <a:t>mat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facet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Catalog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649" y="7315200"/>
            <a:ext cx="6844665" cy="2286000"/>
          </a:xfrm>
          <a:prstGeom prst="rect">
            <a:avLst/>
          </a:prstGeom>
          <a:solidFill>
            <a:srgbClr val="FBE4D5"/>
          </a:solidFill>
        </p:spPr>
        <p:txBody>
          <a:bodyPr vert="horz" wrap="square" lIns="0" tIns="8318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655"/>
              </a:spcBef>
            </a:pPr>
            <a:r>
              <a:rPr sz="2400" b="1" dirty="0">
                <a:latin typeface="Calibri"/>
                <a:cs typeface="Calibri"/>
              </a:rPr>
              <a:t>Try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these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e-</a:t>
            </a:r>
            <a:r>
              <a:rPr sz="2400" b="1" dirty="0">
                <a:latin typeface="Calibri"/>
                <a:cs typeface="Calibri"/>
              </a:rPr>
              <a:t>book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platforms:</a:t>
            </a:r>
            <a:endParaRPr sz="2400">
              <a:latin typeface="Calibri"/>
              <a:cs typeface="Calibri"/>
            </a:endParaRPr>
          </a:p>
          <a:p>
            <a:pPr marL="318770" indent="-228600">
              <a:lnSpc>
                <a:spcPct val="100000"/>
              </a:lnSpc>
              <a:spcBef>
                <a:spcPts val="1215"/>
              </a:spcBef>
              <a:buSzPct val="50000"/>
              <a:buFont typeface="Symbol"/>
              <a:buChar char=""/>
              <a:tabLst>
                <a:tab pos="318770" algn="l"/>
              </a:tabLst>
            </a:pPr>
            <a:r>
              <a:rPr sz="2400" dirty="0">
                <a:latin typeface="Calibri"/>
                <a:cs typeface="Calibri"/>
              </a:rPr>
              <a:t>O'Reilly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Safari</a:t>
            </a:r>
            <a:endParaRPr sz="2400">
              <a:latin typeface="Calibri"/>
              <a:cs typeface="Calibri"/>
            </a:endParaRPr>
          </a:p>
          <a:p>
            <a:pPr marL="318770" indent="-228600">
              <a:lnSpc>
                <a:spcPct val="100000"/>
              </a:lnSpc>
              <a:spcBef>
                <a:spcPts val="1200"/>
              </a:spcBef>
              <a:buSzPct val="50000"/>
              <a:buFont typeface="Symbol"/>
              <a:buChar char=""/>
              <a:tabLst>
                <a:tab pos="318770" algn="l"/>
              </a:tabLst>
            </a:pPr>
            <a:r>
              <a:rPr sz="2400" spc="-10" dirty="0">
                <a:latin typeface="Calibri"/>
                <a:cs typeface="Calibri"/>
              </a:rPr>
              <a:t>OverDrive</a:t>
            </a:r>
            <a:endParaRPr sz="2400">
              <a:latin typeface="Calibri"/>
              <a:cs typeface="Calibri"/>
            </a:endParaRPr>
          </a:p>
          <a:p>
            <a:pPr marL="318770" indent="-228600">
              <a:lnSpc>
                <a:spcPct val="100000"/>
              </a:lnSpc>
              <a:spcBef>
                <a:spcPts val="1210"/>
              </a:spcBef>
              <a:buSzPct val="50000"/>
              <a:buFont typeface="Symbol"/>
              <a:buChar char=""/>
              <a:tabLst>
                <a:tab pos="318770" algn="l"/>
              </a:tabLst>
            </a:pPr>
            <a:r>
              <a:rPr sz="2400" spc="-10" dirty="0">
                <a:latin typeface="Calibri"/>
                <a:cs typeface="Calibri"/>
              </a:rPr>
              <a:t>Underground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independent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comics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920113"/>
            <a:ext cx="2439035" cy="33644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772400" cy="10058400"/>
            <a:chOff x="0" y="0"/>
            <a:chExt cx="7772400" cy="10058400"/>
          </a:xfrm>
        </p:grpSpPr>
        <p:sp>
          <p:nvSpPr>
            <p:cNvPr id="3" name="object 3"/>
            <p:cNvSpPr/>
            <p:nvPr/>
          </p:nvSpPr>
          <p:spPr>
            <a:xfrm>
              <a:off x="0" y="1640585"/>
              <a:ext cx="7772400" cy="8418195"/>
            </a:xfrm>
            <a:custGeom>
              <a:avLst/>
              <a:gdLst/>
              <a:ahLst/>
              <a:cxnLst/>
              <a:rect l="l" t="t" r="r" b="b"/>
              <a:pathLst>
                <a:path w="7772400" h="8418195">
                  <a:moveTo>
                    <a:pt x="0" y="8417814"/>
                  </a:moveTo>
                  <a:lnTo>
                    <a:pt x="7772400" y="8417814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8417814"/>
                  </a:lnTo>
                  <a:close/>
                </a:path>
              </a:pathLst>
            </a:custGeom>
            <a:solidFill>
              <a:srgbClr val="5A62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7772400" cy="1640839"/>
            </a:xfrm>
            <a:custGeom>
              <a:avLst/>
              <a:gdLst/>
              <a:ahLst/>
              <a:cxnLst/>
              <a:rect l="l" t="t" r="r" b="b"/>
              <a:pathLst>
                <a:path w="7772400" h="1640839">
                  <a:moveTo>
                    <a:pt x="0" y="1640585"/>
                  </a:moveTo>
                  <a:lnTo>
                    <a:pt x="7772400" y="1640585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1640585"/>
                  </a:lnTo>
                  <a:close/>
                </a:path>
              </a:pathLst>
            </a:custGeom>
            <a:solidFill>
              <a:srgbClr val="FFD4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E-</a:t>
            </a:r>
            <a:r>
              <a:rPr dirty="0"/>
              <a:t>Resource</a:t>
            </a:r>
            <a:r>
              <a:rPr spc="-100" dirty="0"/>
              <a:t> </a:t>
            </a:r>
            <a:r>
              <a:rPr spc="-25" dirty="0"/>
              <a:t>ID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03930" y="737361"/>
            <a:ext cx="1778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latin typeface="Calibri"/>
                <a:cs typeface="Calibri"/>
              </a:rPr>
              <a:t>E-Journal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00400" y="1893189"/>
            <a:ext cx="4114800" cy="3338195"/>
          </a:xfrm>
          <a:prstGeom prst="rect">
            <a:avLst/>
          </a:prstGeom>
          <a:solidFill>
            <a:srgbClr val="DFEBF7"/>
          </a:solidFill>
        </p:spPr>
        <p:txBody>
          <a:bodyPr vert="horz" wrap="square" lIns="0" tIns="812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40"/>
              </a:spcBef>
            </a:pPr>
            <a:r>
              <a:rPr sz="2500" b="1" spc="-10" dirty="0">
                <a:latin typeface="Calibri"/>
                <a:cs typeface="Calibri"/>
              </a:rPr>
              <a:t>Motto:</a:t>
            </a:r>
            <a:r>
              <a:rPr sz="2500" b="1" spc="-7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'Stay</a:t>
            </a:r>
            <a:r>
              <a:rPr sz="2500" b="1" spc="-6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up</a:t>
            </a:r>
            <a:r>
              <a:rPr sz="2500" b="1" spc="-6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to</a:t>
            </a:r>
            <a:r>
              <a:rPr sz="2500" b="1" spc="-65" dirty="0">
                <a:latin typeface="Calibri"/>
                <a:cs typeface="Calibri"/>
              </a:rPr>
              <a:t> </a:t>
            </a:r>
            <a:r>
              <a:rPr sz="2500" b="1" spc="-20" dirty="0">
                <a:latin typeface="Calibri"/>
                <a:cs typeface="Calibri"/>
              </a:rPr>
              <a:t>date'</a:t>
            </a:r>
            <a:endParaRPr sz="25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1235"/>
              </a:spcBef>
            </a:pPr>
            <a:r>
              <a:rPr sz="2500" spc="-40" dirty="0">
                <a:latin typeface="Calibri"/>
                <a:cs typeface="Calibri"/>
              </a:rPr>
              <a:t>You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have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tendency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to</a:t>
            </a:r>
            <a:endParaRPr sz="2500">
              <a:latin typeface="Calibri"/>
              <a:cs typeface="Calibri"/>
            </a:endParaRPr>
          </a:p>
          <a:p>
            <a:pPr marL="92075" marR="621030">
              <a:lnSpc>
                <a:spcPts val="3640"/>
              </a:lnSpc>
              <a:spcBef>
                <a:spcPts val="219"/>
              </a:spcBef>
            </a:pPr>
            <a:r>
              <a:rPr sz="2500" dirty="0">
                <a:latin typeface="Calibri"/>
                <a:cs typeface="Calibri"/>
              </a:rPr>
              <a:t>change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-30" dirty="0">
                <a:latin typeface="Calibri"/>
                <a:cs typeface="Calibri"/>
              </a:rPr>
              <a:t>frequently,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but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are </a:t>
            </a:r>
            <a:r>
              <a:rPr sz="2500" spc="-30" dirty="0">
                <a:latin typeface="Calibri"/>
                <a:cs typeface="Calibri"/>
              </a:rPr>
              <a:t>forward-</a:t>
            </a:r>
            <a:r>
              <a:rPr sz="2500" dirty="0">
                <a:latin typeface="Calibri"/>
                <a:cs typeface="Calibri"/>
              </a:rPr>
              <a:t>thinking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spc="-50" dirty="0">
                <a:latin typeface="Calibri"/>
                <a:cs typeface="Calibri"/>
              </a:rPr>
              <a:t>a</a:t>
            </a:r>
            <a:endParaRPr sz="2500">
              <a:latin typeface="Calibri"/>
              <a:cs typeface="Calibri"/>
            </a:endParaRPr>
          </a:p>
          <a:p>
            <a:pPr marL="92075" marR="311150">
              <a:lnSpc>
                <a:spcPts val="3620"/>
              </a:lnSpc>
              <a:spcBef>
                <a:spcPts val="5"/>
              </a:spcBef>
            </a:pPr>
            <a:r>
              <a:rPr sz="2500" spc="-40" dirty="0">
                <a:latin typeface="Calibri"/>
                <a:cs typeface="Calibri"/>
              </a:rPr>
              <a:t>trendsetter.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40" dirty="0">
                <a:latin typeface="Calibri"/>
                <a:cs typeface="Calibri"/>
              </a:rPr>
              <a:t>You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thrive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under </a:t>
            </a:r>
            <a:r>
              <a:rPr sz="2500" dirty="0">
                <a:latin typeface="Calibri"/>
                <a:cs typeface="Calibri"/>
              </a:rPr>
              <a:t>peer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pressure!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200" y="5490336"/>
            <a:ext cx="6858000" cy="1554480"/>
          </a:xfrm>
          <a:prstGeom prst="rect">
            <a:avLst/>
          </a:prstGeom>
          <a:solidFill>
            <a:srgbClr val="DFEBF7"/>
          </a:solidFill>
        </p:spPr>
        <p:txBody>
          <a:bodyPr vert="horz" wrap="square" lIns="0" tIns="819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645"/>
              </a:spcBef>
            </a:pPr>
            <a:r>
              <a:rPr sz="2400" b="1" dirty="0">
                <a:latin typeface="Calibri"/>
                <a:cs typeface="Calibri"/>
              </a:rPr>
              <a:t>Where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find:</a:t>
            </a:r>
            <a:endParaRPr sz="24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1215"/>
              </a:spcBef>
            </a:pPr>
            <a:r>
              <a:rPr sz="2400" spc="-20" dirty="0">
                <a:latin typeface="Calibri"/>
                <a:cs typeface="Calibri"/>
              </a:rPr>
              <a:t>E-</a:t>
            </a:r>
            <a:r>
              <a:rPr sz="2400" dirty="0">
                <a:latin typeface="Calibri"/>
                <a:cs typeface="Calibri"/>
              </a:rPr>
              <a:t>Journal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Articles+,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Quicksearch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649" y="7315200"/>
            <a:ext cx="6844665" cy="2286000"/>
          </a:xfrm>
          <a:prstGeom prst="rect">
            <a:avLst/>
          </a:prstGeom>
          <a:solidFill>
            <a:srgbClr val="DFEBF7"/>
          </a:solidFill>
        </p:spPr>
        <p:txBody>
          <a:bodyPr vert="horz" wrap="square" lIns="0" tIns="8318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655"/>
              </a:spcBef>
            </a:pPr>
            <a:r>
              <a:rPr sz="2400" b="1" dirty="0">
                <a:latin typeface="Calibri"/>
                <a:cs typeface="Calibri"/>
              </a:rPr>
              <a:t>Try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these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e-journals:</a:t>
            </a:r>
            <a:endParaRPr sz="2400">
              <a:latin typeface="Calibri"/>
              <a:cs typeface="Calibri"/>
            </a:endParaRPr>
          </a:p>
          <a:p>
            <a:pPr marL="318770" indent="-228600">
              <a:lnSpc>
                <a:spcPct val="100000"/>
              </a:lnSpc>
              <a:spcBef>
                <a:spcPts val="1215"/>
              </a:spcBef>
              <a:buSzPct val="41666"/>
              <a:buFont typeface="Symbol"/>
              <a:buChar char=""/>
              <a:tabLst>
                <a:tab pos="318770" algn="l"/>
              </a:tabLst>
            </a:pPr>
            <a:r>
              <a:rPr sz="2400" dirty="0">
                <a:latin typeface="Calibri"/>
                <a:cs typeface="Calibri"/>
              </a:rPr>
              <a:t>Journal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Cereal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Science</a:t>
            </a:r>
            <a:endParaRPr sz="2400">
              <a:latin typeface="Calibri"/>
              <a:cs typeface="Calibri"/>
            </a:endParaRPr>
          </a:p>
          <a:p>
            <a:pPr marL="318770" indent="-228600">
              <a:lnSpc>
                <a:spcPct val="100000"/>
              </a:lnSpc>
              <a:spcBef>
                <a:spcPts val="1200"/>
              </a:spcBef>
              <a:buSzPct val="41666"/>
              <a:buFont typeface="Symbol"/>
              <a:buChar char=""/>
              <a:tabLst>
                <a:tab pos="318770" algn="l"/>
              </a:tabLst>
            </a:pPr>
            <a:r>
              <a:rPr sz="2400" spc="-10" dirty="0">
                <a:latin typeface="Calibri"/>
                <a:cs typeface="Calibri"/>
              </a:rPr>
              <a:t>Nature</a:t>
            </a:r>
            <a:endParaRPr sz="2400">
              <a:latin typeface="Calibri"/>
              <a:cs typeface="Calibri"/>
            </a:endParaRPr>
          </a:p>
          <a:p>
            <a:pPr marL="318770" indent="-228600">
              <a:lnSpc>
                <a:spcPct val="100000"/>
              </a:lnSpc>
              <a:spcBef>
                <a:spcPts val="1210"/>
              </a:spcBef>
              <a:buSzPct val="41666"/>
              <a:buFont typeface="Symbol"/>
              <a:buChar char=""/>
              <a:tabLst>
                <a:tab pos="318770" algn="l"/>
              </a:tabLst>
            </a:pPr>
            <a:r>
              <a:rPr sz="2400" dirty="0">
                <a:latin typeface="Calibri"/>
                <a:cs typeface="Calibri"/>
              </a:rPr>
              <a:t>New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England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Journal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Medicine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893316"/>
            <a:ext cx="2496566" cy="33553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772400" cy="10058400"/>
            <a:chOff x="0" y="0"/>
            <a:chExt cx="7772400" cy="10058400"/>
          </a:xfrm>
        </p:grpSpPr>
        <p:sp>
          <p:nvSpPr>
            <p:cNvPr id="3" name="object 3"/>
            <p:cNvSpPr/>
            <p:nvPr/>
          </p:nvSpPr>
          <p:spPr>
            <a:xfrm>
              <a:off x="0" y="1640585"/>
              <a:ext cx="7772400" cy="8418195"/>
            </a:xfrm>
            <a:custGeom>
              <a:avLst/>
              <a:gdLst/>
              <a:ahLst/>
              <a:cxnLst/>
              <a:rect l="l" t="t" r="r" b="b"/>
              <a:pathLst>
                <a:path w="7772400" h="8418195">
                  <a:moveTo>
                    <a:pt x="0" y="8417814"/>
                  </a:moveTo>
                  <a:lnTo>
                    <a:pt x="7772400" y="8417814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8417814"/>
                  </a:lnTo>
                  <a:close/>
                </a:path>
              </a:pathLst>
            </a:custGeom>
            <a:solidFill>
              <a:srgbClr val="3891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7772400" cy="1640839"/>
            </a:xfrm>
            <a:custGeom>
              <a:avLst/>
              <a:gdLst/>
              <a:ahLst/>
              <a:cxnLst/>
              <a:rect l="l" t="t" r="r" b="b"/>
              <a:pathLst>
                <a:path w="7772400" h="1640839">
                  <a:moveTo>
                    <a:pt x="0" y="1640585"/>
                  </a:moveTo>
                  <a:lnTo>
                    <a:pt x="7772400" y="1640585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1640585"/>
                  </a:lnTo>
                  <a:close/>
                </a:path>
              </a:pathLst>
            </a:custGeom>
            <a:solidFill>
              <a:srgbClr val="D2E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E-</a:t>
            </a:r>
            <a:r>
              <a:rPr dirty="0"/>
              <a:t>Resource</a:t>
            </a:r>
            <a:r>
              <a:rPr spc="-100" dirty="0"/>
              <a:t> </a:t>
            </a:r>
            <a:r>
              <a:rPr spc="-25" dirty="0"/>
              <a:t>ID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08605" y="737361"/>
            <a:ext cx="3169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Calibri"/>
                <a:cs typeface="Calibri"/>
              </a:rPr>
              <a:t>Streaming</a:t>
            </a:r>
            <a:r>
              <a:rPr sz="3600" b="1" spc="-18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Video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00400" y="1893189"/>
            <a:ext cx="4114800" cy="3338195"/>
          </a:xfrm>
          <a:prstGeom prst="rect">
            <a:avLst/>
          </a:prstGeom>
          <a:solidFill>
            <a:srgbClr val="FBE4D5"/>
          </a:solidFill>
        </p:spPr>
        <p:txBody>
          <a:bodyPr vert="horz" wrap="square" lIns="0" tIns="635" rIns="0" bIns="0" rtlCol="0">
            <a:spAutoFit/>
          </a:bodyPr>
          <a:lstStyle/>
          <a:p>
            <a:pPr marL="92075" marR="389890">
              <a:lnSpc>
                <a:spcPct val="121200"/>
              </a:lnSpc>
              <a:spcBef>
                <a:spcPts val="5"/>
              </a:spcBef>
            </a:pPr>
            <a:r>
              <a:rPr sz="2500" b="1" spc="-10" dirty="0">
                <a:latin typeface="Calibri"/>
                <a:cs typeface="Calibri"/>
              </a:rPr>
              <a:t>Motto: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'A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picture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is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worth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b="1" spc="-50" dirty="0">
                <a:latin typeface="Calibri"/>
                <a:cs typeface="Calibri"/>
              </a:rPr>
              <a:t>a </a:t>
            </a:r>
            <a:r>
              <a:rPr sz="2500" b="1" dirty="0">
                <a:latin typeface="Calibri"/>
                <a:cs typeface="Calibri"/>
              </a:rPr>
              <a:t>thousand</a:t>
            </a:r>
            <a:r>
              <a:rPr sz="2500" b="1" spc="-75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words'</a:t>
            </a:r>
            <a:endParaRPr sz="2500">
              <a:latin typeface="Calibri"/>
              <a:cs typeface="Calibri"/>
            </a:endParaRPr>
          </a:p>
          <a:p>
            <a:pPr marL="92075" marR="192405">
              <a:lnSpc>
                <a:spcPct val="121200"/>
              </a:lnSpc>
              <a:spcBef>
                <a:spcPts val="590"/>
              </a:spcBef>
            </a:pPr>
            <a:r>
              <a:rPr sz="2500" spc="-45" dirty="0">
                <a:latin typeface="Calibri"/>
                <a:cs typeface="Calibri"/>
              </a:rPr>
              <a:t>You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are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constantly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motion </a:t>
            </a:r>
            <a:r>
              <a:rPr sz="2500" dirty="0">
                <a:latin typeface="Calibri"/>
                <a:cs typeface="Calibri"/>
              </a:rPr>
              <a:t>but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good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at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helping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friends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to </a:t>
            </a:r>
            <a:r>
              <a:rPr sz="2500" dirty="0">
                <a:latin typeface="Calibri"/>
                <a:cs typeface="Calibri"/>
              </a:rPr>
              <a:t>relax</a:t>
            </a:r>
            <a:r>
              <a:rPr sz="2500" spc="-10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9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unwind.</a:t>
            </a:r>
            <a:r>
              <a:rPr sz="2500" spc="-90" dirty="0">
                <a:latin typeface="Calibri"/>
                <a:cs typeface="Calibri"/>
              </a:rPr>
              <a:t> </a:t>
            </a:r>
            <a:r>
              <a:rPr sz="2500" spc="-35" dirty="0">
                <a:latin typeface="Calibri"/>
                <a:cs typeface="Calibri"/>
              </a:rPr>
              <a:t>You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are</a:t>
            </a:r>
            <a:endParaRPr sz="25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625"/>
              </a:spcBef>
            </a:pPr>
            <a:r>
              <a:rPr sz="2500" spc="-10" dirty="0">
                <a:latin typeface="Calibri"/>
                <a:cs typeface="Calibri"/>
              </a:rPr>
              <a:t>always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high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demand!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200" y="5490336"/>
            <a:ext cx="6858000" cy="1554480"/>
          </a:xfrm>
          <a:prstGeom prst="rect">
            <a:avLst/>
          </a:prstGeom>
          <a:solidFill>
            <a:srgbClr val="FBE4D5"/>
          </a:solidFill>
        </p:spPr>
        <p:txBody>
          <a:bodyPr vert="horz" wrap="square" lIns="0" tIns="819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645"/>
              </a:spcBef>
            </a:pPr>
            <a:r>
              <a:rPr sz="2400" b="1" dirty="0">
                <a:latin typeface="Calibri"/>
                <a:cs typeface="Calibri"/>
              </a:rPr>
              <a:t>Where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find:</a:t>
            </a:r>
            <a:endParaRPr sz="2400">
              <a:latin typeface="Calibri"/>
              <a:cs typeface="Calibri"/>
            </a:endParaRPr>
          </a:p>
          <a:p>
            <a:pPr marL="91440" marR="393700">
              <a:lnSpc>
                <a:spcPct val="120800"/>
              </a:lnSpc>
              <a:spcBef>
                <a:spcPts val="615"/>
              </a:spcBef>
            </a:pPr>
            <a:r>
              <a:rPr sz="2400" dirty="0">
                <a:latin typeface="Calibri"/>
                <a:cs typeface="Calibri"/>
              </a:rPr>
              <a:t>Quicksearch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Select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“Online”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“Video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Film”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Catalog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649" y="7315200"/>
            <a:ext cx="6844665" cy="2286000"/>
          </a:xfrm>
          <a:prstGeom prst="rect">
            <a:avLst/>
          </a:prstGeom>
          <a:solidFill>
            <a:srgbClr val="FBE4D5"/>
          </a:solidFill>
        </p:spPr>
        <p:txBody>
          <a:bodyPr vert="horz" wrap="square" lIns="0" tIns="8318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655"/>
              </a:spcBef>
            </a:pPr>
            <a:r>
              <a:rPr sz="2400" b="1" dirty="0">
                <a:latin typeface="Calibri"/>
                <a:cs typeface="Calibri"/>
              </a:rPr>
              <a:t>Try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these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streaming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video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platforms:</a:t>
            </a:r>
            <a:endParaRPr sz="2400">
              <a:latin typeface="Calibri"/>
              <a:cs typeface="Calibri"/>
            </a:endParaRPr>
          </a:p>
          <a:p>
            <a:pPr marL="318770" indent="-228600">
              <a:lnSpc>
                <a:spcPct val="100000"/>
              </a:lnSpc>
              <a:spcBef>
                <a:spcPts val="1215"/>
              </a:spcBef>
              <a:buSzPct val="41666"/>
              <a:buFont typeface="Symbol"/>
              <a:buChar char=""/>
              <a:tabLst>
                <a:tab pos="318770" algn="l"/>
              </a:tabLst>
            </a:pPr>
            <a:r>
              <a:rPr sz="2400" spc="-10" dirty="0">
                <a:latin typeface="Calibri"/>
                <a:cs typeface="Calibri"/>
              </a:rPr>
              <a:t>Alexander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Street</a:t>
            </a:r>
            <a:endParaRPr sz="2400">
              <a:latin typeface="Calibri"/>
              <a:cs typeface="Calibri"/>
            </a:endParaRPr>
          </a:p>
          <a:p>
            <a:pPr marL="318770" indent="-228600">
              <a:lnSpc>
                <a:spcPct val="100000"/>
              </a:lnSpc>
              <a:spcBef>
                <a:spcPts val="1200"/>
              </a:spcBef>
              <a:buSzPct val="41666"/>
              <a:buFont typeface="Symbol"/>
              <a:buChar char=""/>
              <a:tabLst>
                <a:tab pos="318770" algn="l"/>
              </a:tabLst>
            </a:pPr>
            <a:r>
              <a:rPr sz="2400" spc="-10" dirty="0">
                <a:latin typeface="Calibri"/>
                <a:cs typeface="Calibri"/>
              </a:rPr>
              <a:t>Kanopy</a:t>
            </a:r>
            <a:endParaRPr sz="2400">
              <a:latin typeface="Calibri"/>
              <a:cs typeface="Calibri"/>
            </a:endParaRPr>
          </a:p>
          <a:p>
            <a:pPr marL="318770" indent="-228600">
              <a:lnSpc>
                <a:spcPct val="100000"/>
              </a:lnSpc>
              <a:spcBef>
                <a:spcPts val="1210"/>
              </a:spcBef>
              <a:buSzPct val="41666"/>
              <a:buFont typeface="Symbol"/>
              <a:buChar char=""/>
              <a:tabLst>
                <a:tab pos="318770" algn="l"/>
              </a:tabLst>
            </a:pPr>
            <a:r>
              <a:rPr sz="2400" dirty="0">
                <a:latin typeface="Calibri"/>
                <a:cs typeface="Calibri"/>
              </a:rPr>
              <a:t>Met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Opera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Demand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649" y="1890395"/>
            <a:ext cx="2459228" cy="33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7772400" cy="10058400"/>
            <a:chOff x="0" y="0"/>
            <a:chExt cx="7772400" cy="10058400"/>
          </a:xfrm>
        </p:grpSpPr>
        <p:sp>
          <p:nvSpPr>
            <p:cNvPr id="3" name="object 3"/>
            <p:cNvSpPr/>
            <p:nvPr/>
          </p:nvSpPr>
          <p:spPr>
            <a:xfrm>
              <a:off x="0" y="1640585"/>
              <a:ext cx="7772400" cy="8418195"/>
            </a:xfrm>
            <a:custGeom>
              <a:avLst/>
              <a:gdLst/>
              <a:ahLst/>
              <a:cxnLst/>
              <a:rect l="l" t="t" r="r" b="b"/>
              <a:pathLst>
                <a:path w="7772400" h="8418195">
                  <a:moveTo>
                    <a:pt x="0" y="8417814"/>
                  </a:moveTo>
                  <a:lnTo>
                    <a:pt x="7772400" y="8417814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8417814"/>
                  </a:lnTo>
                  <a:close/>
                </a:path>
              </a:pathLst>
            </a:custGeom>
            <a:solidFill>
              <a:srgbClr val="C09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7772400" cy="1640839"/>
            </a:xfrm>
            <a:custGeom>
              <a:avLst/>
              <a:gdLst/>
              <a:ahLst/>
              <a:cxnLst/>
              <a:rect l="l" t="t" r="r" b="b"/>
              <a:pathLst>
                <a:path w="7772400" h="1640839">
                  <a:moveTo>
                    <a:pt x="0" y="1640585"/>
                  </a:moveTo>
                  <a:lnTo>
                    <a:pt x="7772400" y="1640585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1640585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E-</a:t>
            </a:r>
            <a:r>
              <a:rPr dirty="0"/>
              <a:t>Resource</a:t>
            </a:r>
            <a:r>
              <a:rPr spc="-100" dirty="0"/>
              <a:t> </a:t>
            </a:r>
            <a:r>
              <a:rPr spc="-25" dirty="0"/>
              <a:t>ID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67585" y="737361"/>
            <a:ext cx="4249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Calibri"/>
                <a:cs typeface="Calibri"/>
              </a:rPr>
              <a:t>Open</a:t>
            </a:r>
            <a:r>
              <a:rPr sz="3600" b="1" spc="-9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Access</a:t>
            </a:r>
            <a:r>
              <a:rPr sz="3600" b="1" spc="-9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Resource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00400" y="1893189"/>
            <a:ext cx="4114800" cy="3338195"/>
          </a:xfrm>
          <a:prstGeom prst="rect">
            <a:avLst/>
          </a:prstGeom>
          <a:solidFill>
            <a:srgbClr val="DFEBF7"/>
          </a:solidFill>
        </p:spPr>
        <p:txBody>
          <a:bodyPr vert="horz" wrap="square" lIns="0" tIns="812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40"/>
              </a:spcBef>
            </a:pPr>
            <a:r>
              <a:rPr sz="2500" b="1" spc="-10" dirty="0">
                <a:latin typeface="Calibri"/>
                <a:cs typeface="Calibri"/>
              </a:rPr>
              <a:t>Motto:</a:t>
            </a:r>
            <a:r>
              <a:rPr sz="2500" b="1" spc="-60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'Believe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in</a:t>
            </a:r>
            <a:r>
              <a:rPr sz="2500" b="1" spc="-60" dirty="0">
                <a:latin typeface="Calibri"/>
                <a:cs typeface="Calibri"/>
              </a:rPr>
              <a:t> </a:t>
            </a:r>
            <a:r>
              <a:rPr sz="2500" b="1" spc="-10" dirty="0">
                <a:latin typeface="Calibri"/>
                <a:cs typeface="Calibri"/>
              </a:rPr>
              <a:t>sharing'</a:t>
            </a:r>
            <a:endParaRPr sz="2500">
              <a:latin typeface="Calibri"/>
              <a:cs typeface="Calibri"/>
            </a:endParaRPr>
          </a:p>
          <a:p>
            <a:pPr marL="92075" marR="209550">
              <a:lnSpc>
                <a:spcPct val="121100"/>
              </a:lnSpc>
              <a:spcBef>
                <a:spcPts val="605"/>
              </a:spcBef>
            </a:pPr>
            <a:r>
              <a:rPr sz="2500" spc="-45" dirty="0">
                <a:latin typeface="Calibri"/>
                <a:cs typeface="Calibri"/>
              </a:rPr>
              <a:t>You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are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open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accessible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everyone.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40" dirty="0">
                <a:latin typeface="Calibri"/>
                <a:cs typeface="Calibri"/>
              </a:rPr>
              <a:t>You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maintain </a:t>
            </a:r>
            <a:r>
              <a:rPr sz="2500" dirty="0">
                <a:latin typeface="Calibri"/>
                <a:cs typeface="Calibri"/>
              </a:rPr>
              <a:t>high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standards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work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with </a:t>
            </a:r>
            <a:r>
              <a:rPr sz="2500" dirty="0">
                <a:latin typeface="Calibri"/>
                <a:cs typeface="Calibri"/>
              </a:rPr>
              <a:t>your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community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solve</a:t>
            </a:r>
            <a:endParaRPr sz="25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625"/>
              </a:spcBef>
            </a:pPr>
            <a:r>
              <a:rPr sz="2500" spc="-10" dirty="0">
                <a:latin typeface="Calibri"/>
                <a:cs typeface="Calibri"/>
              </a:rPr>
              <a:t>problems.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7200" y="5490336"/>
            <a:ext cx="6858000" cy="1554480"/>
          </a:xfrm>
          <a:prstGeom prst="rect">
            <a:avLst/>
          </a:prstGeom>
          <a:solidFill>
            <a:srgbClr val="DFEBF7"/>
          </a:solidFill>
        </p:spPr>
        <p:txBody>
          <a:bodyPr vert="horz" wrap="square" lIns="0" tIns="8191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645"/>
              </a:spcBef>
            </a:pPr>
            <a:r>
              <a:rPr sz="2400" b="1" dirty="0">
                <a:latin typeface="Calibri"/>
                <a:cs typeface="Calibri"/>
              </a:rPr>
              <a:t>Where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find:</a:t>
            </a:r>
            <a:endParaRPr sz="24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1215"/>
              </a:spcBef>
            </a:pPr>
            <a:r>
              <a:rPr sz="2400" dirty="0">
                <a:latin typeface="Calibri"/>
                <a:cs typeface="Calibri"/>
              </a:rPr>
              <a:t>Internet,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E-</a:t>
            </a:r>
            <a:r>
              <a:rPr sz="2400" dirty="0">
                <a:latin typeface="Calibri"/>
                <a:cs typeface="Calibri"/>
              </a:rPr>
              <a:t>Journal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Articles+,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Quicksearch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649" y="7315200"/>
            <a:ext cx="6844665" cy="2286000"/>
          </a:xfrm>
          <a:prstGeom prst="rect">
            <a:avLst/>
          </a:prstGeom>
          <a:solidFill>
            <a:srgbClr val="DFEBF7"/>
          </a:solidFill>
        </p:spPr>
        <p:txBody>
          <a:bodyPr vert="horz" wrap="square" lIns="0" tIns="8318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655"/>
              </a:spcBef>
            </a:pPr>
            <a:r>
              <a:rPr sz="2400" b="1" dirty="0">
                <a:latin typeface="Calibri"/>
                <a:cs typeface="Calibri"/>
              </a:rPr>
              <a:t>Try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these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open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access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resources:</a:t>
            </a:r>
            <a:endParaRPr sz="2400">
              <a:latin typeface="Calibri"/>
              <a:cs typeface="Calibri"/>
            </a:endParaRPr>
          </a:p>
          <a:p>
            <a:pPr marL="318770" indent="-228600">
              <a:lnSpc>
                <a:spcPct val="100000"/>
              </a:lnSpc>
              <a:spcBef>
                <a:spcPts val="1215"/>
              </a:spcBef>
              <a:buSzPct val="41666"/>
              <a:buFont typeface="Symbol"/>
              <a:buChar char=""/>
              <a:tabLst>
                <a:tab pos="318770" algn="l"/>
              </a:tabLst>
            </a:pPr>
            <a:r>
              <a:rPr sz="2400" dirty="0">
                <a:latin typeface="Calibri"/>
                <a:cs typeface="Calibri"/>
              </a:rPr>
              <a:t>DOAB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Directory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Books</a:t>
            </a:r>
            <a:endParaRPr sz="2400">
              <a:latin typeface="Calibri"/>
              <a:cs typeface="Calibri"/>
            </a:endParaRPr>
          </a:p>
          <a:p>
            <a:pPr marL="318770" indent="-228600">
              <a:lnSpc>
                <a:spcPct val="100000"/>
              </a:lnSpc>
              <a:spcBef>
                <a:spcPts val="1200"/>
              </a:spcBef>
              <a:buSzPct val="41666"/>
              <a:buFont typeface="Symbol"/>
              <a:buChar char=""/>
              <a:tabLst>
                <a:tab pos="318770" algn="l"/>
              </a:tabLst>
            </a:pPr>
            <a:r>
              <a:rPr sz="2400" spc="-10" dirty="0">
                <a:latin typeface="Calibri"/>
                <a:cs typeface="Calibri"/>
              </a:rPr>
              <a:t>Independent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Voices</a:t>
            </a:r>
            <a:endParaRPr sz="2400">
              <a:latin typeface="Calibri"/>
              <a:cs typeface="Calibri"/>
            </a:endParaRPr>
          </a:p>
          <a:p>
            <a:pPr marL="318770" indent="-228600">
              <a:lnSpc>
                <a:spcPct val="100000"/>
              </a:lnSpc>
              <a:spcBef>
                <a:spcPts val="1210"/>
              </a:spcBef>
              <a:buSzPct val="41666"/>
              <a:buFont typeface="Symbol"/>
              <a:buChar char=""/>
              <a:tabLst>
                <a:tab pos="318770" algn="l"/>
              </a:tabLst>
            </a:pPr>
            <a:r>
              <a:rPr sz="2400" spc="-10" dirty="0">
                <a:latin typeface="Calibri"/>
                <a:cs typeface="Calibri"/>
              </a:rPr>
              <a:t>World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Bank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Knowledge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Repository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893189"/>
            <a:ext cx="2493010" cy="33211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8529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383</Words>
  <Application>Microsoft Office PowerPoint</Application>
  <PresentationFormat>Custom</PresentationFormat>
  <Paragraphs>66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Symbol</vt:lpstr>
      <vt:lpstr>Office Theme</vt:lpstr>
      <vt:lpstr>E-Resource ID</vt:lpstr>
      <vt:lpstr>E-Resource ID</vt:lpstr>
      <vt:lpstr>E-Resource ID</vt:lpstr>
      <vt:lpstr>E-Resource ID</vt:lpstr>
      <vt:lpstr>E-Resource ID</vt:lpstr>
      <vt:lpstr>E-Resource ID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Sugiyama, Yukari</dc:creator>
  <cp:lastModifiedBy>Sugiyama, Yukari</cp:lastModifiedBy>
  <cp:revision>1</cp:revision>
  <dcterms:created xsi:type="dcterms:W3CDTF">2026-02-07T03:09:02Z</dcterms:created>
  <dcterms:modified xsi:type="dcterms:W3CDTF">2026-02-07T03:10:04Z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2026-02-06T00:00:00Z</vt:filetime>
  </property>
  <property fmtid="{D5CDD505-2E9C-101B-9397-08002B2CF9AE}" pid="3" name="Creator">
    <vt:lpwstr>Microsoft® Publisher for Microsoft 365</vt:lpwstr>
  </property>
  <property fmtid="{D5CDD505-2E9C-101B-9397-08002B2CF9AE}" pid="4" name="LastSaved">
    <vt:filetime>2026-02-07T00:00:00Z</vt:filetime>
  </property>
  <property fmtid="{D5CDD505-2E9C-101B-9397-08002B2CF9AE}" pid="5" name="Producer">
    <vt:lpwstr>Microsoft® Publisher for Microsoft 365</vt:lpwstr>
  </property>
</Properties>
</file>